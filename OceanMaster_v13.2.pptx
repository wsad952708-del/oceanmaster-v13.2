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64008" cy="29260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OceanMaster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v13.2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驅動遠洋漁場預測系統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23774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物理海洋 HSI 模型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3246120"/>
            <a:ext cx="23774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Stacking 預測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3246120"/>
            <a:ext cx="23774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食物鏈時序模擬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66344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哪裡有魚 • 什麼時候到 • 怎麼去最安全最省油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一、系統是什麼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OceanMaster 是一套端到端的遠洋漁場預測系統。它每天從 19 個衛星和氣象資料源抓取即時海洋環境數據，經過物理海洋計算、生態食物鏈模擬、機器學習預測三層處理後，告訴遠洋延繩釣船長三件事：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560320" cy="777240"/>
          </a:xfrm>
          <a:prstGeom prst="rect">
            <a:avLst/>
          </a:prstGeom>
          <a:solidFill>
            <a:srgbClr val="065A82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83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哪裡有魚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91840" y="1783080"/>
            <a:ext cx="2560320" cy="777240"/>
          </a:xfrm>
          <a:prstGeom prst="rect">
            <a:avLst/>
          </a:prstGeom>
          <a:solidFill>
            <a:srgbClr val="065A82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783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什麼時候到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2560320" cy="777240"/>
          </a:xfrm>
          <a:prstGeom prst="rect">
            <a:avLst/>
          </a:prstGeom>
          <a:solidFill>
            <a:srgbClr val="065A82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783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怎麼去最安全最省油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涵蓋 10 個商業魚種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155448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2724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黃鰭鮪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21408" y="3127248"/>
            <a:ext cx="155448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312724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大目鮪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85616" y="3127248"/>
            <a:ext cx="155448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85616" y="312724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正鰹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49824" y="3127248"/>
            <a:ext cx="155448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312724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長鰭鮪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14032" y="3127248"/>
            <a:ext cx="1554480" cy="56692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14032" y="312724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北太赤魷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85616"/>
            <a:ext cx="1554480" cy="56692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8561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日本魷魚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21408" y="3785616"/>
            <a:ext cx="1554480" cy="56692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1408" y="378561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旗魚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85616" y="3785616"/>
            <a:ext cx="1554480" cy="56692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85616" y="378561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鬼頭刀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49824" y="3785616"/>
            <a:ext cx="1554480" cy="56692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9824" y="378561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藍槍魚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14032" y="3785616"/>
            <a:ext cx="1554480" cy="56692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4032" y="3785616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條紋旗魚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獨立棲息地模型 • 溫度偏好 • 深度範圍 • 月相行為參數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427"/>
          </a:solidFill>
          <a:ln w="12700">
            <a:solidFill>
              <a:srgbClr val="021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二、系統怎麼運作 — 六層架構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850392"/>
            <a:ext cx="7863840" cy="530352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85039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第1層：環境感知　</a:t>
            </a:r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19個衛星來源 · SST · Chl-a · SSH · DO · 波浪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438912" cy="438912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002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1554480"/>
            <a:ext cx="7863840" cy="530352"/>
          </a:xfrm>
          <a:prstGeom prst="rect">
            <a:avLst/>
          </a:prstGeom>
          <a:solidFill>
            <a:srgbClr val="0E7490">
              <a:alpha val="22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554480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第2層：物理計算　</a:t>
            </a:r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鋒面 · 渦旋 · FTLE · 黑潮 · 溫躍層 · 代謝指數Φ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304288"/>
            <a:ext cx="438912" cy="43891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04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2258568"/>
            <a:ext cx="7863840" cy="530352"/>
          </a:xfrm>
          <a:prstGeom prst="rect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258568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第3層：生態模擬　</a:t>
            </a:r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食物鏈級聯 · DVM · OMZ壓縮 · NPZ耦合模型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008376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083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2962656"/>
            <a:ext cx="7863840" cy="530352"/>
          </a:xfrm>
          <a:prstGeom prst="rect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962656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第4層：ML 預測　</a:t>
            </a:r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 66維 · SHAP可解釋性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712464"/>
            <a:ext cx="438912" cy="438912"/>
          </a:xfrm>
          <a:prstGeom prst="ellipse">
            <a:avLst/>
          </a:prstGeom>
          <a:solidFill>
            <a:srgbClr val="9D174D"/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7124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" y="3666744"/>
            <a:ext cx="7863840" cy="530352"/>
          </a:xfrm>
          <a:prstGeom prst="rect">
            <a:avLst/>
          </a:prstGeom>
          <a:solidFill>
            <a:srgbClr val="9D174D">
              <a:alpha val="22000"/>
            </a:srgbClr>
          </a:solidFill>
          <a:ln w="12700">
            <a:solidFill>
              <a:srgbClr val="9D17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666744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第5層：DL 空間預測　</a:t>
            </a:r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ConvLSTM · U-Net+CBAM · TransFish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4416552"/>
            <a:ext cx="438912" cy="43891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4165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8680" y="4370832"/>
            <a:ext cx="7863840" cy="530352"/>
          </a:xfrm>
          <a:prstGeom prst="rect">
            <a:avLst/>
          </a:prstGeom>
          <a:solidFill>
            <a:srgbClr val="B45309">
              <a:alpha val="2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37083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第6層：決策輸出　</a:t>
            </a:r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Top20漁場 · 下鉤深度 · A*航線 · ROI計算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第一層：環境感知 — 「海洋現在長什麼樣」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data_fetcher_v2.py（2,832 行）同時連線 19 個衛星資料來源，抓取整個西太平洋的完整三維海洋快照。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35608"/>
            <a:ext cx="4114800" cy="65836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904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海表溫度（SST）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兩個來源：粗解析度（0.25°，全球）和高解析度（MUR 1km，區域）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435608"/>
            <a:ext cx="4114800" cy="65836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4904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葉綠素-a 濃度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719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浮游植物密度，食物鏈的起點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4114800" cy="65836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2677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海面高度與地轉流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496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定位渦旋、黑潮主軸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212848"/>
            <a:ext cx="4114800" cy="65836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22677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三維溫鹽剖面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496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HYCOM 從海面到深海的溫度和鹽度結構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90088"/>
            <a:ext cx="4114800" cy="65836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0449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溶氧垂直分布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73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WOA2023 氧氣濃度，決定魚能否在該深度生存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990088"/>
            <a:ext cx="4114800" cy="65836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0449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海浪、風場、氣壓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2735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安全航行判斷用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20240" y="3767328"/>
            <a:ext cx="5303520" cy="658368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011680" y="382219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夜光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11680" y="40507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偵測漁船燈光，驗證和估計競爭密度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 retry + fallback 機制：_fallback_log (L365-366) 自動降級，用氣候態資料補位，不因單一 API 故障中斷服務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第二層：物理計算 — 「海洋結構告訴我們什麼」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個物理海洋模組將原始衛星數據轉換為對漁業有意義的特徵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0789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43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鋒面偵測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4813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梯度 + Canny + CC92 三法取交集。鋒面是不同水團交界，浮游生物在此聚集，餌料魚跟著來，鮪魚就在附近巡游。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70432"/>
            <a:ext cx="64008" cy="10789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243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渦旋偵測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0328" y="14813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eddy_detector.py + okubo_weiss.py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0328" y="164592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Okubo-Weiss 參數找氣旋/反氣旋渦旋。反氣旋渦旋邊緣因 downwelling/upwelling 把餌料向邊緣集中。eddy_maturity.py 評估渦旋成熟度。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35915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59152"/>
            <a:ext cx="64008" cy="10789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32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拉格朗日 FTLE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26700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lagrangian_advection.py（1,566 行）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283464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RK4 數值積分追蹤虛擬粒子，計算有限時間李雅普諾夫指數。FTLE 脊線是海洋「隱形牆壁」，浮游生物和餌料被困在脊線圍成的區域裡。含趨溫游泳模擬。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35915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59152"/>
            <a:ext cx="64008" cy="10789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432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黑潮追蹤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0328" y="26700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kuroshio_engine.py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10328" y="283464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即時定位黑潮主軸，計算每個網格到黑潮的距離。黑潮邊緣的暖渦旋是台灣延繩釣船隊的傳統高產漁場。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54787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547872"/>
            <a:ext cx="64008" cy="10789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621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溫躍層 / MLD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" y="3858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thermocline_fetcher.py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" y="402336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HYCOM 3D 剖面提取 Z20（20°C等溫線）、MLD（混合層深度）和 T100。T100 解釋力達 17%，遠超 SST 的 5%。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4787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47872"/>
            <a:ext cx="64008" cy="10789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3621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代謝指數 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0328" y="3858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commercial_core_v2.py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10328" y="402336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 等 2015 年（Science）方法。溶氧＋溫度計算代謝可行性。Φ 過低代表氧氣不足以讓魚正常呼吸，無論其他條件多好都不會有魚。硬性生理限制。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第三層：生態模擬 — 「食物鏈在做什麼」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OceanMaster 的核心差異：模擬完整的營養級級聯，而非只看 SST 和 Chl-a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18288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704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浮游植物爆發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48840" y="121615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468880" y="1170432"/>
            <a:ext cx="18288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1704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浮游動物延遲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121615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182880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1704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餌料魚聚集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121615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766560" y="1170432"/>
            <a:ext cx="18288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17043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鮪魚到達窗口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1938528"/>
            <a:ext cx="2834640" cy="1207008"/>
          </a:xfrm>
          <a:prstGeom prst="rect">
            <a:avLst/>
          </a:prstGeom>
          <a:solidFill>
            <a:srgbClr val="0F234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浮游植物爆發偵測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" y="2286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food_chain_predictor.py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3192" y="245059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Brody 2013 方法判斷 Chl-a 趨勢：起始期（繼續等）→ 高峰期（浮游動物聚集中）→ 衰退期（鮪魚正在趕來）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27832" y="1938528"/>
            <a:ext cx="2834640" cy="1207008"/>
          </a:xfrm>
          <a:prstGeom prst="rect">
            <a:avLst/>
          </a:prstGeom>
          <a:solidFill>
            <a:srgbClr val="0F234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浮游動物延遲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64992" y="2286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食物鏈級聯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64992" y="245059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Chl-a 爆發後浮游動物有溫度依賴的時間延遲（Henson 2009）：水溫越高代謝越快，延遲越短。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99632" y="1938528"/>
            <a:ext cx="2834640" cy="1207008"/>
          </a:xfrm>
          <a:prstGeom prst="rect">
            <a:avLst/>
          </a:prstGeom>
          <a:solidFill>
            <a:srgbClr val="0F234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垂直遷移 DVM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36792" y="2286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dvm_model.py + lunar_model.py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36792" y="245059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浮游生物白天潛入深水、夜晚上浮。月光會抑制上浮行為（太亮不安全）。建議黎明前後和傍晚之後作業，避開滿月。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310128"/>
            <a:ext cx="2834640" cy="1207008"/>
          </a:xfrm>
          <a:prstGeom prst="rect">
            <a:avLst/>
          </a:prstGeom>
          <a:solidFill>
            <a:srgbClr val="0F234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OMZ 壓縮模型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3192" y="3657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omz_model.py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3192" y="382219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Stramma 2012 框架偵測氧最小層邊緣。OMZ 把魚的棲息空間壓縮到表層，獵物被擠到窄層，反而成為高效覓食區。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27832" y="3310128"/>
            <a:ext cx="2834640" cy="1207008"/>
          </a:xfrm>
          <a:prstGeom prst="rect">
            <a:avLst/>
          </a:prstGeom>
          <a:solidFill>
            <a:srgbClr val="0F234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NPZ 耦合模型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64992" y="3657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npz_model.py（282 行）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64992" y="382219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N-P-Z 三變數耦合（Fasham 1990）。Eppley 1972 溫度曲線 + Michaelis-Menten 營養限制；浮游動物攝食用 Holling Type III 函數。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99632" y="3310128"/>
            <a:ext cx="2834640" cy="1207008"/>
          </a:xfrm>
          <a:prstGeom prst="rect">
            <a:avLst/>
          </a:prstGeom>
          <a:solidFill>
            <a:srgbClr val="0F234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3401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魷魚月相模型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36792" y="3657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squid_jigging_forecast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36792" y="3822192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對魷魚物種，月相影響更劇烈。燈火魷釣需要暗夜，系統特別計算月光壓制期作為最佳作業建議。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第四層：ML 預測 — 「歷史模式加持」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 架構　（stacking_ensemble.py，1,898 行）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280160" cy="457200"/>
          </a:xfrm>
          <a:prstGeom prst="rect">
            <a:avLst/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55648" y="1188720"/>
            <a:ext cx="1280160" cy="457200"/>
          </a:xfrm>
          <a:prstGeom prst="rect">
            <a:avLst/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55648" y="1188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91256" y="1188720"/>
            <a:ext cx="1280160" cy="457200"/>
          </a:xfrm>
          <a:prstGeom prst="rect">
            <a:avLst/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91256" y="1188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188720"/>
            <a:ext cx="1280160" cy="457200"/>
          </a:xfrm>
          <a:prstGeom prst="rect">
            <a:avLst/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188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62472" y="1188720"/>
            <a:ext cx="1280160" cy="457200"/>
          </a:xfrm>
          <a:prstGeom prst="rect">
            <a:avLst/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62472" y="1188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0" y="1188720"/>
            <a:ext cx="1280160" cy="457200"/>
          </a:xfrm>
          <a:prstGeom prst="rect">
            <a:avLst/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1188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166420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個基礎學習器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1883664"/>
            <a:ext cx="73152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2157984"/>
            <a:ext cx="45720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86000" y="2157984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RidgeCV 元學習器  ·  KFold CV=5  ·  66 維特徵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788920"/>
            <a:ext cx="278892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788920"/>
            <a:ext cx="278892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78892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訓練資料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" y="3200400"/>
            <a:ext cx="25603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WCPFC 真實延繩釣 15,404 行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Block CV（50km 緩衝）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 CPUE 標準化（CPUEStandardizer）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時間分割：訓練 ≤2014 / 測試 &gt;2014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788920"/>
            <a:ext cx="278892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788920"/>
            <a:ext cx="278892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78892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融合比例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3200400"/>
            <a:ext cx="25603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 HSI：80%（主導）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預測：20%（Spatial CV R²為負）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遮罩：phi&lt;2.0 → HSI×0.5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有真實資料訓練後可調整至 50/50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788920"/>
            <a:ext cx="2788920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788920"/>
            <a:ext cx="278892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278892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可解釋性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36208" y="3200400"/>
            <a:ext cx="25603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shap_explainer.py 30+ emoji 中文名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海表溫度(28.2°C)接近最適溫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FTLE聚集線 → 推薦此漁場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真實資料後可能翻轉特徵重要性排序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第五層：DL 空間預測 — 「看見未來」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858000" y="109728"/>
            <a:ext cx="20116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097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有架構 / 未訓練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B4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個 DL 架構已完整建立程式碼，.pt checkpoint 均為測試用隨機初始化，非生產訓練結果。取得真實漁獲日誌後可啟動訓練。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261872"/>
            <a:ext cx="2834640" cy="1691640"/>
          </a:xfrm>
          <a:prstGeom prst="rect">
            <a:avLst/>
          </a:prstGeom>
          <a:solidFill>
            <a:srgbClr val="2D1B3D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261872"/>
            <a:ext cx="2834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618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ConvLSTM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04872" y="1316736"/>
            <a:ext cx="5943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4872" y="131673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未訓練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16276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convlstm_predictor.py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17922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無生產 .pt（隨機初始化）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1956816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把連續多天 SST/Chl-a/SSH 空間場當「影片」餵入卷積長短期記憶網絡。訓練後能做出「未來 3-7 天的漁場空間預測圖」— 從反應式到預測式的質變。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261872"/>
            <a:ext cx="2834640" cy="1691640"/>
          </a:xfrm>
          <a:prstGeom prst="rect">
            <a:avLst/>
          </a:prstGeom>
          <a:solidFill>
            <a:srgbClr val="2D1B3D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261872"/>
            <a:ext cx="28346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2618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+ CBAM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49240" y="1316736"/>
            <a:ext cx="5943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131673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未訓練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91840" y="16276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unet_fishing.py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91840" y="17922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無生產 .pt（隨機初始化）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91840" y="1956816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輸入多通道環境場（SST/Chl-a/SSH/eddy/front），輸出漁場機率熱圖。CBAM 注意力機制讓模型自動學「哪個特徵最重要」。訓練後解析度可達 0.05°（約 5.5km）。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44768" y="1261872"/>
            <a:ext cx="2834640" cy="1691640"/>
          </a:xfrm>
          <a:prstGeom prst="rect">
            <a:avLst/>
          </a:prstGeom>
          <a:solidFill>
            <a:srgbClr val="2D1B3D"/>
          </a:solidFill>
          <a:ln w="19050">
            <a:solidFill>
              <a:srgbClr val="5B21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4768" y="1261872"/>
            <a:ext cx="2834640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12618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TransFish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93608" y="1316736"/>
            <a:ext cx="5943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3608" y="131673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未訓練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36208" y="16276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transfish.py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36208" y="179222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無生產 .pt（隨機初始化）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36208" y="1956816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空間特徵 + Transformer 時序自注意力。捕捉「這種環境模式出現時，過去三年每次都在 10 天後出現黃鰭鮪」的長距離時間關聯。需數千筆以上日報資料。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3136392"/>
            <a:ext cx="2834640" cy="1691640"/>
          </a:xfrm>
          <a:prstGeom prst="rect">
            <a:avLst/>
          </a:prstGeom>
          <a:solidFill>
            <a:srgbClr val="2D1B3D"/>
          </a:solidFill>
          <a:ln w="19050">
            <a:solidFill>
              <a:srgbClr val="4C1D9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3136392"/>
            <a:ext cx="2834640" cy="34747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136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Bi-LSTM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404872" y="3191256"/>
            <a:ext cx="5943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04872" y="319125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未訓練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7472" y="35021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dl_models_v2.py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7472" y="366674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無生產 .pt（隨機初始化）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7472" y="3831336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雙向長短期記憶網絡，時序序列預測架構。可從歷史環境時間序列學習模式，雙向掃描兼顧「過去事件」與「未來預期」的時間特徵。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0" y="3136392"/>
            <a:ext cx="2834640" cy="1691640"/>
          </a:xfrm>
          <a:prstGeom prst="rect">
            <a:avLst/>
          </a:prstGeom>
          <a:solidFill>
            <a:srgbClr val="2D1B3D"/>
          </a:solidFill>
          <a:ln w="19050">
            <a:solidFill>
              <a:srgbClr val="3B076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3136392"/>
            <a:ext cx="2834640" cy="347472"/>
          </a:xfrm>
          <a:prstGeom prst="rect">
            <a:avLst/>
          </a:prstGeom>
          <a:solidFill>
            <a:srgbClr val="3B0764"/>
          </a:solidFill>
          <a:ln w="12700">
            <a:solidFill>
              <a:srgbClr val="3B07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1840" y="3136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ESRGAN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349240" y="3191256"/>
            <a:ext cx="5943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319125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未訓練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91840" y="35021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ocean_srgan.py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291840" y="366674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無生產 .pt（隨機初始化）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91840" y="3831336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增強型超解析度生成對抗網絡，應用於海洋衛星影像超解析度增強。將 0.25° 低解析度環境場上採樣至 0.05°，填補衛星資料解析度不足的空間細節。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44768" y="3136392"/>
            <a:ext cx="2834640" cy="1691640"/>
          </a:xfrm>
          <a:prstGeom prst="rect">
            <a:avLst/>
          </a:prstGeom>
          <a:solidFill>
            <a:srgbClr val="2D1B3D"/>
          </a:solidFill>
          <a:ln w="19050">
            <a:solidFill>
              <a:srgbClr val="581C8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44768" y="3136392"/>
            <a:ext cx="2834640" cy="347472"/>
          </a:xfrm>
          <a:prstGeom prst="rect">
            <a:avLst/>
          </a:prstGeom>
          <a:solidFill>
            <a:srgbClr val="581C87"/>
          </a:solidFill>
          <a:ln w="12700">
            <a:solidFill>
              <a:srgbClr val="581C8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36208" y="31363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v2 DL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293608" y="3191256"/>
            <a:ext cx="59436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93608" y="319125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未訓練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36208" y="350215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stacking_ensemble.py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236208" y="366674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架構已定義（待整合）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36208" y="3831336"/>
            <a:ext cx="2651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 第二版 DL 增強層，計劃作為 XGBoost 的深度特徵提取前置層，提升 66 維特徵的非線性表達能力。架構已定義，待真實資料整合。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873752"/>
            <a:ext cx="84124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重要聲明：.pt 檔案（379KB / 87KB / 302KB）為測試用隨機初始化 checkpoint，並非生產訓練結果。買方技術審查時需注意此項。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第六層：決策輸出 — 「告訴船長該怎麼做」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所有計算結果收斂到決策層，直接告訴船長行動方案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283464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個人化漁場排名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ai_fusion.py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700784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高斯平滑降低空間雜訊，按綜合評分排名，產出 Top 20 推薦漁場。每個漁場附帶：適宜性分數、物種組成、下鉤深度、食物鏈階段、SHAP 解釋。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70432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70432"/>
            <a:ext cx="283464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下鉤深度建議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5361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hook_depth.py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37560" y="1700784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綜合 SST 剖面、混合層深度、月相（月光壓制 DVM）、時刻（黎明/正午/夜間）和目標物種的垂直偏好，動態計算最適下鉤深度。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170432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70432"/>
            <a:ext cx="283464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安全航線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5361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route_planner_v2.py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63640" y="1700784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從高雄前鎮漁港出發，A* 尋路自動繞過 7 國 EEZ（10 海浬緩衝），考慮海流（順流省油）、波高（超 4 米繞行）和颱風路徑。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80944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80944"/>
            <a:ext cx="283464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90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安全評估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3467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safety_checker.py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51129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級評估（安全/注意/警告/危險），含瘋狗浪風險（Rayleigh 分布）和參數共振橫搖風險 — 當浪週期接近船體固有搖擺週期時發出特別警告。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80944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80944"/>
            <a:ext cx="283464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090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颱風黃金漁場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37560" y="33467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typhoon_golden_zone.py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37560" y="351129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颱風過境後 3-7 天，冷尾流區域湧升帶來營養鹽爆發，接著 Chl-a 爆發，快速吸引鮪魚聚集。系統追蹤活動颱風預測黃金漁場位置和時機。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980944"/>
            <a:ext cx="2834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980944"/>
            <a:ext cx="283464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090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計算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33467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roi_calculator.py + fishery_market.py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63640" y="3511296"/>
            <a:ext cx="25786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預測漁獲量 × 即時市場價格（農委會 Open Data）減去油耗成本，給出 ROI 數字。船長不只看「哪裡有魚」，而是「去哪裡最划算」。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三、前端體驗 — Dashboard 操作介面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船長打開瀏覽器，看到的是一個暗色主題的 Leaflet.js 互動地圖（dashboard_v2.html）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" y="1234440"/>
            <a:ext cx="2788920" cy="1600200"/>
          </a:xfrm>
          <a:prstGeom prst="rect">
            <a:avLst/>
          </a:prstGeom>
          <a:solidFill>
            <a:srgbClr val="0F234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4173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84048" y="19019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互動地圖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148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暗色主題，疊加漁場熱點標記、SST 等溫線、Chl-a 色階、鋒面線、渦旋圓圈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1234440"/>
            <a:ext cx="2788920" cy="1600200"/>
          </a:xfrm>
          <a:prstGeom prst="rect">
            <a:avLst/>
          </a:prstGeom>
          <a:solidFill>
            <a:srgbClr val="0F234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14173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🐟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10128" y="19019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物種選擇器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2148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切換物種時，整張圖的熱點、顏色、排序即時更新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44768" y="1234440"/>
            <a:ext cx="2788920" cy="1600200"/>
          </a:xfrm>
          <a:prstGeom prst="rect">
            <a:avLst/>
          </a:prstGeom>
          <a:solidFill>
            <a:srgbClr val="0F234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4173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36208" y="19019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時間滑桿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6208" y="2148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回看過去 24 小時的變化，或看未來 7 天的 ConvLSTM 預測（訓練後才有）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" y="3063240"/>
            <a:ext cx="2788920" cy="1600200"/>
          </a:xfrm>
          <a:prstGeom prst="rect">
            <a:avLst/>
          </a:prstGeom>
          <a:solidFill>
            <a:srgbClr val="0F234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2461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84048" y="37307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模態視窗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9776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點擊任一熱點彈出 SHAP 解釋：長條圖展示「為什麼推薦這裡」，每個特徵名稱都有中文翻譯和一句話解釋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18688" y="3063240"/>
            <a:ext cx="2788920" cy="1600200"/>
          </a:xfrm>
          <a:prstGeom prst="rect">
            <a:avLst/>
          </a:prstGeom>
          <a:solidFill>
            <a:srgbClr val="0F234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32461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310128" y="37307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食物鏈時間軸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9776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 繪製：橫軸時間、縱軸各營養級活動強度，直觀看到「浮游植物爆發 → 浮游動物高峰 → 鮪魚到達」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44768" y="3063240"/>
            <a:ext cx="2788920" cy="1600200"/>
          </a:xfrm>
          <a:prstGeom prst="rect">
            <a:avLst/>
          </a:prstGeom>
          <a:solidFill>
            <a:srgbClr val="0F234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32461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236208" y="37307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低頻寬模式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39776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text_briefing.py 產出純文字版本，一條 SMS 就能發送當日推薦給頻寬受限的漁船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四、持續改進循環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系統不是一次性的預測 — 設計了完整的反饋循環，使用越久預測越準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51560" y="1280160"/>
            <a:ext cx="868680" cy="8686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280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057400" y="14173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874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1874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船長回報漁獲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74320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/api/v1/report_catch 上傳實際漁獲（經緯度、物種、數量、深度）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1280160"/>
            <a:ext cx="868680" cy="8686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54680" y="1280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160520" y="14173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651760" y="2286000"/>
            <a:ext cx="1874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51760" y="2286000"/>
            <a:ext cx="1874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22860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自動比對驗證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61488" y="274320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資料存入 SQLite，validation_tracker.py 自動跟之前的預測比對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57800" y="1280160"/>
            <a:ext cx="868680" cy="8686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1280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63640" y="14173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1874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286000"/>
            <a:ext cx="1874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2860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增量學習更新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274320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incremental_learner.py 用新資料微調模型，不需要從頭重訓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60920" y="1280160"/>
            <a:ext cx="868680" cy="8686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60920" y="1280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6858000" y="2286000"/>
            <a:ext cx="18745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2286000"/>
            <a:ext cx="1874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228600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預測越來越準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67728" y="274320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每一次航次回報，模型就更了解「在這種環境條件下，實際漁獲是多少」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71600" y="47091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反饋循環 — 每次出航都讓系統更聰明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427"/>
          </a:solidFill>
          <a:ln w="12700">
            <a:solidFill>
              <a:srgbClr val="0214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五、整體定位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3931920" cy="1828800"/>
          </a:xfrm>
          <a:prstGeom prst="rect">
            <a:avLst/>
          </a:prstGeom>
          <a:solidFill>
            <a:srgbClr val="0F234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77240"/>
            <a:ext cx="3931920" cy="402336"/>
          </a:xfrm>
          <a:prstGeom prst="rect">
            <a:avLst/>
          </a:prstGeom>
          <a:solidFill>
            <a:srgbClr val="1E4D7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OceanMaster 是一套衛星海洋數據整合平台，搭載了學術級的物理海洋引擎和食物鏈模擬 — 能計算棲息地適宜性，但沒辦法告訴你「這裡到底會抓到多少魚」。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15968" y="128016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2D3EE"/>
                </a:solidFill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892040" y="777240"/>
            <a:ext cx="3931920" cy="1828800"/>
          </a:xfrm>
          <a:prstGeom prst="rect">
            <a:avLst/>
          </a:prstGeom>
          <a:solidFill>
            <a:srgbClr val="0D2B1A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777240"/>
            <a:ext cx="3931920" cy="40233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777240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234440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成為一套端到端的漁場決策系統。物理模型提供因果理解（「為什麼這裡有魚」），ML/DL 從歷史中學到統計規律（「過去這種模式出現時通常抓到多少」），兩者融合的結果比任何一邊單獨預測都更可靠。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8503920" cy="50292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這套系統的獨特之處不在任何單一技術，而在整合：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337560"/>
            <a:ext cx="96012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33756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衛星資料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80160" y="3401568"/>
            <a:ext cx="11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99032" y="3337560"/>
            <a:ext cx="96012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99032" y="333756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物理模型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59152" y="3401568"/>
            <a:ext cx="11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78024" y="3337560"/>
            <a:ext cx="960120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78024" y="333756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生態模擬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38144" y="3401568"/>
            <a:ext cx="11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57016" y="3337560"/>
            <a:ext cx="96012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7016" y="333756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預測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17136" y="3401568"/>
            <a:ext cx="11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36008" y="3337560"/>
            <a:ext cx="960120" cy="475488"/>
          </a:xfrm>
          <a:prstGeom prst="rect">
            <a:avLst/>
          </a:prstGeom>
          <a:solidFill>
            <a:srgbClr val="9D17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6008" y="333756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空間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96128" y="3401568"/>
            <a:ext cx="11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15000" y="3337560"/>
            <a:ext cx="96012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333756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航線安全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75120" y="3401568"/>
            <a:ext cx="11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93992" y="3337560"/>
            <a:ext cx="96012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333756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商業決策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754112" y="3401568"/>
            <a:ext cx="11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872984" y="3337560"/>
            <a:ext cx="9601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72984" y="3337560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反饋學習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20040" y="39136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市面上沒有一家競品同時覆蓋所有層級：從出港決策到下鉤深度到回港 ROI，完整閉環。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0040" y="446227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再加上：航線規劃 · 安全評估 · 油耗計算 · ROI 估算 · SHAP 解釋 · 覆蓋一個遠洋延繩釣決策的完整流程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OceanMaster v13.2</dc:title>
  <dc:subject>PptxGenJS Presentation</dc:subject>
  <dc:creator>PptxGenJS</dc:creator>
  <cp:lastModifiedBy>PptxGenJS</cp:lastModifiedBy>
  <cp:revision>1</cp:revision>
  <dcterms:created xsi:type="dcterms:W3CDTF">2026-03-03T10:34:43Z</dcterms:created>
  <dcterms:modified xsi:type="dcterms:W3CDTF">2026-03-03T10:34:43Z</dcterms:modified>
</cp:coreProperties>
</file>